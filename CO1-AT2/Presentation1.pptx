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8" r:id="rId2"/>
    <p:sldId id="269" r:id="rId3"/>
    <p:sldId id="266" r:id="rId4"/>
    <p:sldId id="256" r:id="rId5"/>
    <p:sldId id="257" r:id="rId6"/>
    <p:sldId id="258" r:id="rId7"/>
    <p:sldId id="264" r:id="rId8"/>
    <p:sldId id="259" r:id="rId9"/>
    <p:sldId id="260" r:id="rId10"/>
    <p:sldId id="261" r:id="rId11"/>
    <p:sldId id="262"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33" d="100"/>
          <a:sy n="33" d="100"/>
        </p:scale>
        <p:origin x="2606" y="103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863C7-3EF3-CF4D-E684-D69F9AF1990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5BE0BC-ACF2-2988-DF11-91114916AC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08D7FDF-B572-6E70-7890-77A8F390BDE0}"/>
              </a:ext>
            </a:extLst>
          </p:cNvPr>
          <p:cNvSpPr>
            <a:spLocks noGrp="1"/>
          </p:cNvSpPr>
          <p:nvPr>
            <p:ph type="dt" sz="half" idx="10"/>
          </p:nvPr>
        </p:nvSpPr>
        <p:spPr/>
        <p:txBody>
          <a:bodyPr/>
          <a:lstStyle/>
          <a:p>
            <a:fld id="{5B471706-8769-4697-A38C-9DD328434469}" type="datetimeFigureOut">
              <a:rPr lang="en-IN" smtClean="0"/>
              <a:t>16-07-2026</a:t>
            </a:fld>
            <a:endParaRPr lang="en-IN"/>
          </a:p>
        </p:txBody>
      </p:sp>
      <p:sp>
        <p:nvSpPr>
          <p:cNvPr id="5" name="Footer Placeholder 4">
            <a:extLst>
              <a:ext uri="{FF2B5EF4-FFF2-40B4-BE49-F238E27FC236}">
                <a16:creationId xmlns:a16="http://schemas.microsoft.com/office/drawing/2014/main" id="{48D8BC94-29AC-3A35-1E74-FF5730A095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D77BAD-CD07-31EC-EA6D-BC2A62754A6D}"/>
              </a:ext>
            </a:extLst>
          </p:cNvPr>
          <p:cNvSpPr>
            <a:spLocks noGrp="1"/>
          </p:cNvSpPr>
          <p:nvPr>
            <p:ph type="sldNum" sz="quarter" idx="12"/>
          </p:nvPr>
        </p:nvSpPr>
        <p:spPr/>
        <p:txBody>
          <a:bodyPr/>
          <a:lstStyle/>
          <a:p>
            <a:fld id="{2DBF0D2C-7A7A-4295-AC58-1F50503B7E02}" type="slidenum">
              <a:rPr lang="en-IN" smtClean="0"/>
              <a:t>‹#›</a:t>
            </a:fld>
            <a:endParaRPr lang="en-IN"/>
          </a:p>
        </p:txBody>
      </p:sp>
    </p:spTree>
    <p:extLst>
      <p:ext uri="{BB962C8B-B14F-4D97-AF65-F5344CB8AC3E}">
        <p14:creationId xmlns:p14="http://schemas.microsoft.com/office/powerpoint/2010/main" val="3067413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97912-7A6F-D625-624F-800BA3BDF26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F33D09-C352-FCA9-327A-BE222CDBF2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780EFA-38FC-E9AD-F7C2-DBBB51653FC0}"/>
              </a:ext>
            </a:extLst>
          </p:cNvPr>
          <p:cNvSpPr>
            <a:spLocks noGrp="1"/>
          </p:cNvSpPr>
          <p:nvPr>
            <p:ph type="dt" sz="half" idx="10"/>
          </p:nvPr>
        </p:nvSpPr>
        <p:spPr/>
        <p:txBody>
          <a:bodyPr/>
          <a:lstStyle/>
          <a:p>
            <a:fld id="{5B471706-8769-4697-A38C-9DD328434469}" type="datetimeFigureOut">
              <a:rPr lang="en-IN" smtClean="0"/>
              <a:t>16-07-2026</a:t>
            </a:fld>
            <a:endParaRPr lang="en-IN"/>
          </a:p>
        </p:txBody>
      </p:sp>
      <p:sp>
        <p:nvSpPr>
          <p:cNvPr id="5" name="Footer Placeholder 4">
            <a:extLst>
              <a:ext uri="{FF2B5EF4-FFF2-40B4-BE49-F238E27FC236}">
                <a16:creationId xmlns:a16="http://schemas.microsoft.com/office/drawing/2014/main" id="{C932E129-97C7-1682-D419-33C46B28DE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B57B4F-5CC7-904C-FC19-B9FD06E7A895}"/>
              </a:ext>
            </a:extLst>
          </p:cNvPr>
          <p:cNvSpPr>
            <a:spLocks noGrp="1"/>
          </p:cNvSpPr>
          <p:nvPr>
            <p:ph type="sldNum" sz="quarter" idx="12"/>
          </p:nvPr>
        </p:nvSpPr>
        <p:spPr/>
        <p:txBody>
          <a:bodyPr/>
          <a:lstStyle/>
          <a:p>
            <a:fld id="{2DBF0D2C-7A7A-4295-AC58-1F50503B7E02}" type="slidenum">
              <a:rPr lang="en-IN" smtClean="0"/>
              <a:t>‹#›</a:t>
            </a:fld>
            <a:endParaRPr lang="en-IN"/>
          </a:p>
        </p:txBody>
      </p:sp>
    </p:spTree>
    <p:extLst>
      <p:ext uri="{BB962C8B-B14F-4D97-AF65-F5344CB8AC3E}">
        <p14:creationId xmlns:p14="http://schemas.microsoft.com/office/powerpoint/2010/main" val="1139681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39418-B1D9-5C43-0C48-998CC07D2E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C8719A9-BE9E-ECB7-8B00-6007235A0FB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1F83C6-2B00-2C84-4E1B-BEF14A006C2C}"/>
              </a:ext>
            </a:extLst>
          </p:cNvPr>
          <p:cNvSpPr>
            <a:spLocks noGrp="1"/>
          </p:cNvSpPr>
          <p:nvPr>
            <p:ph type="dt" sz="half" idx="10"/>
          </p:nvPr>
        </p:nvSpPr>
        <p:spPr/>
        <p:txBody>
          <a:bodyPr/>
          <a:lstStyle/>
          <a:p>
            <a:fld id="{5B471706-8769-4697-A38C-9DD328434469}" type="datetimeFigureOut">
              <a:rPr lang="en-IN" smtClean="0"/>
              <a:t>16-07-2026</a:t>
            </a:fld>
            <a:endParaRPr lang="en-IN"/>
          </a:p>
        </p:txBody>
      </p:sp>
      <p:sp>
        <p:nvSpPr>
          <p:cNvPr id="5" name="Footer Placeholder 4">
            <a:extLst>
              <a:ext uri="{FF2B5EF4-FFF2-40B4-BE49-F238E27FC236}">
                <a16:creationId xmlns:a16="http://schemas.microsoft.com/office/drawing/2014/main" id="{4B6359FA-C006-362B-836B-0528F2A11E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0AEB2A-6320-F3AE-C287-2AAC91E23905}"/>
              </a:ext>
            </a:extLst>
          </p:cNvPr>
          <p:cNvSpPr>
            <a:spLocks noGrp="1"/>
          </p:cNvSpPr>
          <p:nvPr>
            <p:ph type="sldNum" sz="quarter" idx="12"/>
          </p:nvPr>
        </p:nvSpPr>
        <p:spPr/>
        <p:txBody>
          <a:bodyPr/>
          <a:lstStyle/>
          <a:p>
            <a:fld id="{2DBF0D2C-7A7A-4295-AC58-1F50503B7E02}" type="slidenum">
              <a:rPr lang="en-IN" smtClean="0"/>
              <a:t>‹#›</a:t>
            </a:fld>
            <a:endParaRPr lang="en-IN"/>
          </a:p>
        </p:txBody>
      </p:sp>
    </p:spTree>
    <p:extLst>
      <p:ext uri="{BB962C8B-B14F-4D97-AF65-F5344CB8AC3E}">
        <p14:creationId xmlns:p14="http://schemas.microsoft.com/office/powerpoint/2010/main" val="14667356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1A905-61A7-FFB1-52B6-2F31297682D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0A434B1-9FAC-A05C-A174-19E61227BFA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60CB165-5081-B703-7FCD-1794692C95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517715F-86BD-900A-1EAA-F6777DC3D318}"/>
              </a:ext>
            </a:extLst>
          </p:cNvPr>
          <p:cNvSpPr>
            <a:spLocks noGrp="1"/>
          </p:cNvSpPr>
          <p:nvPr>
            <p:ph type="dt" sz="half" idx="10"/>
          </p:nvPr>
        </p:nvSpPr>
        <p:spPr/>
        <p:txBody>
          <a:bodyPr/>
          <a:lstStyle/>
          <a:p>
            <a:fld id="{5B471706-8769-4697-A38C-9DD328434469}" type="datetimeFigureOut">
              <a:rPr lang="en-IN" smtClean="0"/>
              <a:t>16-07-2026</a:t>
            </a:fld>
            <a:endParaRPr lang="en-IN"/>
          </a:p>
        </p:txBody>
      </p:sp>
      <p:sp>
        <p:nvSpPr>
          <p:cNvPr id="6" name="Footer Placeholder 5">
            <a:extLst>
              <a:ext uri="{FF2B5EF4-FFF2-40B4-BE49-F238E27FC236}">
                <a16:creationId xmlns:a16="http://schemas.microsoft.com/office/drawing/2014/main" id="{E64A94ED-1CAE-7F88-7668-842555835A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8019B0-C1B5-A3DE-4E1F-89509C66C568}"/>
              </a:ext>
            </a:extLst>
          </p:cNvPr>
          <p:cNvSpPr>
            <a:spLocks noGrp="1"/>
          </p:cNvSpPr>
          <p:nvPr>
            <p:ph type="sldNum" sz="quarter" idx="12"/>
          </p:nvPr>
        </p:nvSpPr>
        <p:spPr/>
        <p:txBody>
          <a:bodyPr/>
          <a:lstStyle/>
          <a:p>
            <a:fld id="{2DBF0D2C-7A7A-4295-AC58-1F50503B7E02}" type="slidenum">
              <a:rPr lang="en-IN" smtClean="0"/>
              <a:t>‹#›</a:t>
            </a:fld>
            <a:endParaRPr lang="en-IN"/>
          </a:p>
        </p:txBody>
      </p:sp>
    </p:spTree>
    <p:extLst>
      <p:ext uri="{BB962C8B-B14F-4D97-AF65-F5344CB8AC3E}">
        <p14:creationId xmlns:p14="http://schemas.microsoft.com/office/powerpoint/2010/main" val="1638865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A574C-BECB-CC22-B482-3489FCE4130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34ECD0E-8F4B-B68B-1BBE-BA2FB5C501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A1782B-4A5F-543C-C8C5-299F6E7290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751B486-2A83-41DC-1786-F323212B1E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9699B12-A052-4084-A0E6-C7DA1FA77F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7C2EECD-7A9A-FF6A-0178-6DC61425BD19}"/>
              </a:ext>
            </a:extLst>
          </p:cNvPr>
          <p:cNvSpPr>
            <a:spLocks noGrp="1"/>
          </p:cNvSpPr>
          <p:nvPr>
            <p:ph type="dt" sz="half" idx="10"/>
          </p:nvPr>
        </p:nvSpPr>
        <p:spPr/>
        <p:txBody>
          <a:bodyPr/>
          <a:lstStyle/>
          <a:p>
            <a:fld id="{5B471706-8769-4697-A38C-9DD328434469}" type="datetimeFigureOut">
              <a:rPr lang="en-IN" smtClean="0"/>
              <a:t>16-07-2026</a:t>
            </a:fld>
            <a:endParaRPr lang="en-IN"/>
          </a:p>
        </p:txBody>
      </p:sp>
      <p:sp>
        <p:nvSpPr>
          <p:cNvPr id="8" name="Footer Placeholder 7">
            <a:extLst>
              <a:ext uri="{FF2B5EF4-FFF2-40B4-BE49-F238E27FC236}">
                <a16:creationId xmlns:a16="http://schemas.microsoft.com/office/drawing/2014/main" id="{1DAB63A9-DACA-728F-0BF4-C2B15722EFF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BD50974-104D-0AD1-973F-BF0F84B5070E}"/>
              </a:ext>
            </a:extLst>
          </p:cNvPr>
          <p:cNvSpPr>
            <a:spLocks noGrp="1"/>
          </p:cNvSpPr>
          <p:nvPr>
            <p:ph type="sldNum" sz="quarter" idx="12"/>
          </p:nvPr>
        </p:nvSpPr>
        <p:spPr/>
        <p:txBody>
          <a:bodyPr/>
          <a:lstStyle/>
          <a:p>
            <a:fld id="{2DBF0D2C-7A7A-4295-AC58-1F50503B7E02}" type="slidenum">
              <a:rPr lang="en-IN" smtClean="0"/>
              <a:t>‹#›</a:t>
            </a:fld>
            <a:endParaRPr lang="en-IN"/>
          </a:p>
        </p:txBody>
      </p:sp>
    </p:spTree>
    <p:extLst>
      <p:ext uri="{BB962C8B-B14F-4D97-AF65-F5344CB8AC3E}">
        <p14:creationId xmlns:p14="http://schemas.microsoft.com/office/powerpoint/2010/main" val="35568967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B9DF4-D3D9-02CC-F881-CCFFCF5AE4C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D451357-CF75-10DD-6EDD-964079A32040}"/>
              </a:ext>
            </a:extLst>
          </p:cNvPr>
          <p:cNvSpPr>
            <a:spLocks noGrp="1"/>
          </p:cNvSpPr>
          <p:nvPr>
            <p:ph type="dt" sz="half" idx="10"/>
          </p:nvPr>
        </p:nvSpPr>
        <p:spPr/>
        <p:txBody>
          <a:bodyPr/>
          <a:lstStyle/>
          <a:p>
            <a:fld id="{5B471706-8769-4697-A38C-9DD328434469}" type="datetimeFigureOut">
              <a:rPr lang="en-IN" smtClean="0"/>
              <a:t>16-07-2026</a:t>
            </a:fld>
            <a:endParaRPr lang="en-IN"/>
          </a:p>
        </p:txBody>
      </p:sp>
      <p:sp>
        <p:nvSpPr>
          <p:cNvPr id="4" name="Footer Placeholder 3">
            <a:extLst>
              <a:ext uri="{FF2B5EF4-FFF2-40B4-BE49-F238E27FC236}">
                <a16:creationId xmlns:a16="http://schemas.microsoft.com/office/drawing/2014/main" id="{3A6EB4B1-D254-E93F-6A81-698169C0DAC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3FE5504-53E4-34FF-D759-252A1E439471}"/>
              </a:ext>
            </a:extLst>
          </p:cNvPr>
          <p:cNvSpPr>
            <a:spLocks noGrp="1"/>
          </p:cNvSpPr>
          <p:nvPr>
            <p:ph type="sldNum" sz="quarter" idx="12"/>
          </p:nvPr>
        </p:nvSpPr>
        <p:spPr/>
        <p:txBody>
          <a:bodyPr/>
          <a:lstStyle/>
          <a:p>
            <a:fld id="{2DBF0D2C-7A7A-4295-AC58-1F50503B7E02}" type="slidenum">
              <a:rPr lang="en-IN" smtClean="0"/>
              <a:t>‹#›</a:t>
            </a:fld>
            <a:endParaRPr lang="en-IN"/>
          </a:p>
        </p:txBody>
      </p:sp>
    </p:spTree>
    <p:extLst>
      <p:ext uri="{BB962C8B-B14F-4D97-AF65-F5344CB8AC3E}">
        <p14:creationId xmlns:p14="http://schemas.microsoft.com/office/powerpoint/2010/main" val="17226912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A6235A-EE88-CF39-07D2-2957DF8083AB}"/>
              </a:ext>
            </a:extLst>
          </p:cNvPr>
          <p:cNvSpPr>
            <a:spLocks noGrp="1"/>
          </p:cNvSpPr>
          <p:nvPr>
            <p:ph type="dt" sz="half" idx="10"/>
          </p:nvPr>
        </p:nvSpPr>
        <p:spPr/>
        <p:txBody>
          <a:bodyPr/>
          <a:lstStyle/>
          <a:p>
            <a:fld id="{5B471706-8769-4697-A38C-9DD328434469}" type="datetimeFigureOut">
              <a:rPr lang="en-IN" smtClean="0"/>
              <a:t>16-07-2026</a:t>
            </a:fld>
            <a:endParaRPr lang="en-IN"/>
          </a:p>
        </p:txBody>
      </p:sp>
      <p:sp>
        <p:nvSpPr>
          <p:cNvPr id="3" name="Footer Placeholder 2">
            <a:extLst>
              <a:ext uri="{FF2B5EF4-FFF2-40B4-BE49-F238E27FC236}">
                <a16:creationId xmlns:a16="http://schemas.microsoft.com/office/drawing/2014/main" id="{54B6875B-4ED2-254E-D838-F3C0B01121B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538A187-EFF8-C76E-7FD9-A5E0E4F7F137}"/>
              </a:ext>
            </a:extLst>
          </p:cNvPr>
          <p:cNvSpPr>
            <a:spLocks noGrp="1"/>
          </p:cNvSpPr>
          <p:nvPr>
            <p:ph type="sldNum" sz="quarter" idx="12"/>
          </p:nvPr>
        </p:nvSpPr>
        <p:spPr/>
        <p:txBody>
          <a:bodyPr/>
          <a:lstStyle/>
          <a:p>
            <a:fld id="{2DBF0D2C-7A7A-4295-AC58-1F50503B7E02}" type="slidenum">
              <a:rPr lang="en-IN" smtClean="0"/>
              <a:t>‹#›</a:t>
            </a:fld>
            <a:endParaRPr lang="en-IN"/>
          </a:p>
        </p:txBody>
      </p:sp>
    </p:spTree>
    <p:extLst>
      <p:ext uri="{BB962C8B-B14F-4D97-AF65-F5344CB8AC3E}">
        <p14:creationId xmlns:p14="http://schemas.microsoft.com/office/powerpoint/2010/main" val="30061365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D9CB8-224F-3CAB-A1A6-D9FAB3FB7D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03A61F3-4C56-AB86-AFF3-56AFDC25E4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549BE9D-DE28-9F34-5A10-285504D3FC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3F1BA1-D8D3-D824-E32D-5DE1B52EA789}"/>
              </a:ext>
            </a:extLst>
          </p:cNvPr>
          <p:cNvSpPr>
            <a:spLocks noGrp="1"/>
          </p:cNvSpPr>
          <p:nvPr>
            <p:ph type="dt" sz="half" idx="10"/>
          </p:nvPr>
        </p:nvSpPr>
        <p:spPr/>
        <p:txBody>
          <a:bodyPr/>
          <a:lstStyle/>
          <a:p>
            <a:fld id="{5B471706-8769-4697-A38C-9DD328434469}" type="datetimeFigureOut">
              <a:rPr lang="en-IN" smtClean="0"/>
              <a:t>16-07-2026</a:t>
            </a:fld>
            <a:endParaRPr lang="en-IN"/>
          </a:p>
        </p:txBody>
      </p:sp>
      <p:sp>
        <p:nvSpPr>
          <p:cNvPr id="6" name="Footer Placeholder 5">
            <a:extLst>
              <a:ext uri="{FF2B5EF4-FFF2-40B4-BE49-F238E27FC236}">
                <a16:creationId xmlns:a16="http://schemas.microsoft.com/office/drawing/2014/main" id="{ACA7086E-DEEC-4751-CAC7-4FA7E06C92A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47AA0B2-459F-8F4B-8C14-F64506CF6A98}"/>
              </a:ext>
            </a:extLst>
          </p:cNvPr>
          <p:cNvSpPr>
            <a:spLocks noGrp="1"/>
          </p:cNvSpPr>
          <p:nvPr>
            <p:ph type="sldNum" sz="quarter" idx="12"/>
          </p:nvPr>
        </p:nvSpPr>
        <p:spPr/>
        <p:txBody>
          <a:bodyPr/>
          <a:lstStyle/>
          <a:p>
            <a:fld id="{2DBF0D2C-7A7A-4295-AC58-1F50503B7E02}" type="slidenum">
              <a:rPr lang="en-IN" smtClean="0"/>
              <a:t>‹#›</a:t>
            </a:fld>
            <a:endParaRPr lang="en-IN"/>
          </a:p>
        </p:txBody>
      </p:sp>
    </p:spTree>
    <p:extLst>
      <p:ext uri="{BB962C8B-B14F-4D97-AF65-F5344CB8AC3E}">
        <p14:creationId xmlns:p14="http://schemas.microsoft.com/office/powerpoint/2010/main" val="2201303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3BD2C-1285-1ECD-27EB-B6F3E05742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863FE09-791A-8650-DCBB-C142A1D78D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845E86C-5764-A8FB-2459-D9843717EE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4D1CFB-3AAB-B813-CEE5-748AEEE114EB}"/>
              </a:ext>
            </a:extLst>
          </p:cNvPr>
          <p:cNvSpPr>
            <a:spLocks noGrp="1"/>
          </p:cNvSpPr>
          <p:nvPr>
            <p:ph type="dt" sz="half" idx="10"/>
          </p:nvPr>
        </p:nvSpPr>
        <p:spPr/>
        <p:txBody>
          <a:bodyPr/>
          <a:lstStyle/>
          <a:p>
            <a:fld id="{5B471706-8769-4697-A38C-9DD328434469}" type="datetimeFigureOut">
              <a:rPr lang="en-IN" smtClean="0"/>
              <a:t>16-07-2026</a:t>
            </a:fld>
            <a:endParaRPr lang="en-IN"/>
          </a:p>
        </p:txBody>
      </p:sp>
      <p:sp>
        <p:nvSpPr>
          <p:cNvPr id="6" name="Footer Placeholder 5">
            <a:extLst>
              <a:ext uri="{FF2B5EF4-FFF2-40B4-BE49-F238E27FC236}">
                <a16:creationId xmlns:a16="http://schemas.microsoft.com/office/drawing/2014/main" id="{C7D80AFE-EC57-47C2-6427-3200CF24FA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D919D6-99F0-8163-3B0E-0FE88D4771FC}"/>
              </a:ext>
            </a:extLst>
          </p:cNvPr>
          <p:cNvSpPr>
            <a:spLocks noGrp="1"/>
          </p:cNvSpPr>
          <p:nvPr>
            <p:ph type="sldNum" sz="quarter" idx="12"/>
          </p:nvPr>
        </p:nvSpPr>
        <p:spPr/>
        <p:txBody>
          <a:bodyPr/>
          <a:lstStyle/>
          <a:p>
            <a:fld id="{2DBF0D2C-7A7A-4295-AC58-1F50503B7E02}" type="slidenum">
              <a:rPr lang="en-IN" smtClean="0"/>
              <a:t>‹#›</a:t>
            </a:fld>
            <a:endParaRPr lang="en-IN"/>
          </a:p>
        </p:txBody>
      </p:sp>
    </p:spTree>
    <p:extLst>
      <p:ext uri="{BB962C8B-B14F-4D97-AF65-F5344CB8AC3E}">
        <p14:creationId xmlns:p14="http://schemas.microsoft.com/office/powerpoint/2010/main" val="3102924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3EE17-21F2-46BF-E99C-487980A732A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BD87386-59A1-ADD3-F195-311262EAB8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F83F80-B00A-9B04-7AEE-C00F5348D7BA}"/>
              </a:ext>
            </a:extLst>
          </p:cNvPr>
          <p:cNvSpPr>
            <a:spLocks noGrp="1"/>
          </p:cNvSpPr>
          <p:nvPr>
            <p:ph type="dt" sz="half" idx="10"/>
          </p:nvPr>
        </p:nvSpPr>
        <p:spPr/>
        <p:txBody>
          <a:bodyPr/>
          <a:lstStyle/>
          <a:p>
            <a:fld id="{5B471706-8769-4697-A38C-9DD328434469}" type="datetimeFigureOut">
              <a:rPr lang="en-IN" smtClean="0"/>
              <a:t>16-07-2026</a:t>
            </a:fld>
            <a:endParaRPr lang="en-IN"/>
          </a:p>
        </p:txBody>
      </p:sp>
      <p:sp>
        <p:nvSpPr>
          <p:cNvPr id="5" name="Footer Placeholder 4">
            <a:extLst>
              <a:ext uri="{FF2B5EF4-FFF2-40B4-BE49-F238E27FC236}">
                <a16:creationId xmlns:a16="http://schemas.microsoft.com/office/drawing/2014/main" id="{26348B12-FA4A-9BDC-0B24-13D9B107D7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32E078-39F4-A0D1-88EA-38126388E81A}"/>
              </a:ext>
            </a:extLst>
          </p:cNvPr>
          <p:cNvSpPr>
            <a:spLocks noGrp="1"/>
          </p:cNvSpPr>
          <p:nvPr>
            <p:ph type="sldNum" sz="quarter" idx="12"/>
          </p:nvPr>
        </p:nvSpPr>
        <p:spPr/>
        <p:txBody>
          <a:bodyPr/>
          <a:lstStyle/>
          <a:p>
            <a:fld id="{2DBF0D2C-7A7A-4295-AC58-1F50503B7E02}" type="slidenum">
              <a:rPr lang="en-IN" smtClean="0"/>
              <a:t>‹#›</a:t>
            </a:fld>
            <a:endParaRPr lang="en-IN"/>
          </a:p>
        </p:txBody>
      </p:sp>
    </p:spTree>
    <p:extLst>
      <p:ext uri="{BB962C8B-B14F-4D97-AF65-F5344CB8AC3E}">
        <p14:creationId xmlns:p14="http://schemas.microsoft.com/office/powerpoint/2010/main" val="1908947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C5208F-0394-E57D-1A55-A6B5ADCDD8D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8988120-88B7-AA0F-1971-FF6BF75EA58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56FF78-7C33-F330-F992-9DD6FA0805A0}"/>
              </a:ext>
            </a:extLst>
          </p:cNvPr>
          <p:cNvSpPr>
            <a:spLocks noGrp="1"/>
          </p:cNvSpPr>
          <p:nvPr>
            <p:ph type="dt" sz="half" idx="10"/>
          </p:nvPr>
        </p:nvSpPr>
        <p:spPr/>
        <p:txBody>
          <a:bodyPr/>
          <a:lstStyle/>
          <a:p>
            <a:fld id="{5B471706-8769-4697-A38C-9DD328434469}" type="datetimeFigureOut">
              <a:rPr lang="en-IN" smtClean="0"/>
              <a:t>16-07-2026</a:t>
            </a:fld>
            <a:endParaRPr lang="en-IN"/>
          </a:p>
        </p:txBody>
      </p:sp>
      <p:sp>
        <p:nvSpPr>
          <p:cNvPr id="5" name="Footer Placeholder 4">
            <a:extLst>
              <a:ext uri="{FF2B5EF4-FFF2-40B4-BE49-F238E27FC236}">
                <a16:creationId xmlns:a16="http://schemas.microsoft.com/office/drawing/2014/main" id="{E8D8E587-CE80-143A-C8CE-913F7FE02B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3E04E0-1AC5-E422-987D-07314FE8B030}"/>
              </a:ext>
            </a:extLst>
          </p:cNvPr>
          <p:cNvSpPr>
            <a:spLocks noGrp="1"/>
          </p:cNvSpPr>
          <p:nvPr>
            <p:ph type="sldNum" sz="quarter" idx="12"/>
          </p:nvPr>
        </p:nvSpPr>
        <p:spPr/>
        <p:txBody>
          <a:bodyPr/>
          <a:lstStyle/>
          <a:p>
            <a:fld id="{2DBF0D2C-7A7A-4295-AC58-1F50503B7E02}" type="slidenum">
              <a:rPr lang="en-IN" smtClean="0"/>
              <a:t>‹#›</a:t>
            </a:fld>
            <a:endParaRPr lang="en-IN"/>
          </a:p>
        </p:txBody>
      </p:sp>
    </p:spTree>
    <p:extLst>
      <p:ext uri="{BB962C8B-B14F-4D97-AF65-F5344CB8AC3E}">
        <p14:creationId xmlns:p14="http://schemas.microsoft.com/office/powerpoint/2010/main" val="2873211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F5C25D-77E6-E18A-35E4-F1AB900067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030B3B2-970E-67D2-9600-31DA23D2E8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E25CFA-3BF0-D25E-591F-D4324EDECA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471706-8769-4697-A38C-9DD328434469}" type="datetimeFigureOut">
              <a:rPr lang="en-IN" smtClean="0"/>
              <a:t>16-07-2026</a:t>
            </a:fld>
            <a:endParaRPr lang="en-IN"/>
          </a:p>
        </p:txBody>
      </p:sp>
      <p:sp>
        <p:nvSpPr>
          <p:cNvPr id="5" name="Footer Placeholder 4">
            <a:extLst>
              <a:ext uri="{FF2B5EF4-FFF2-40B4-BE49-F238E27FC236}">
                <a16:creationId xmlns:a16="http://schemas.microsoft.com/office/drawing/2014/main" id="{63AD4E95-1112-459B-1279-388CBC73A9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C5288C7-7C64-3D57-E8B5-6FB4855964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BF0D2C-7A7A-4295-AC58-1F50503B7E02}" type="slidenum">
              <a:rPr lang="en-IN" smtClean="0"/>
              <a:t>‹#›</a:t>
            </a:fld>
            <a:endParaRPr lang="en-IN"/>
          </a:p>
        </p:txBody>
      </p:sp>
    </p:spTree>
    <p:extLst>
      <p:ext uri="{BB962C8B-B14F-4D97-AF65-F5344CB8AC3E}">
        <p14:creationId xmlns:p14="http://schemas.microsoft.com/office/powerpoint/2010/main" val="14709417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mailto:ravi@gmail.com"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D58D5-5EBB-6A8C-2097-B670B367F90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DB5CABD-638F-FA03-E18A-C2BDE5ADFC19}"/>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96B18D32-476E-AC08-7AC1-3B33409378B2}"/>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267246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309DE7D-CC89-B4AC-5F65-56897A6EB546}"/>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790963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6375F8E-76F0-6748-0C73-85C67DFB5019}"/>
              </a:ext>
            </a:extLst>
          </p:cNvPr>
          <p:cNvPicPr>
            <a:picLocks noChangeAspect="1"/>
          </p:cNvPicPr>
          <p:nvPr/>
        </p:nvPicPr>
        <p:blipFill>
          <a:blip r:embed="rId2"/>
          <a:stretch>
            <a:fillRect/>
          </a:stretch>
        </p:blipFill>
        <p:spPr>
          <a:xfrm>
            <a:off x="1554086" y="872268"/>
            <a:ext cx="9083827" cy="5113463"/>
          </a:xfrm>
          <a:prstGeom prst="rect">
            <a:avLst/>
          </a:prstGeom>
        </p:spPr>
      </p:pic>
    </p:spTree>
    <p:extLst>
      <p:ext uri="{BB962C8B-B14F-4D97-AF65-F5344CB8AC3E}">
        <p14:creationId xmlns:p14="http://schemas.microsoft.com/office/powerpoint/2010/main" val="3385726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28F90D-2CDD-6906-4380-979F5536A807}"/>
              </a:ext>
            </a:extLst>
          </p:cNvPr>
          <p:cNvSpPr/>
          <p:nvPr/>
        </p:nvSpPr>
        <p:spPr>
          <a:xfrm>
            <a:off x="864243" y="231493"/>
            <a:ext cx="10463514" cy="1747777"/>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1"/>
                </a:solidFill>
              </a:rPr>
              <a:t>Designing Efficient Regular Expression Patterns for Information Extraction</a:t>
            </a:r>
            <a:endParaRPr lang="en-IN" sz="3600" b="1" dirty="0">
              <a:solidFill>
                <a:schemeClr val="tx1"/>
              </a:solidFill>
            </a:endParaRPr>
          </a:p>
        </p:txBody>
      </p:sp>
      <p:sp>
        <p:nvSpPr>
          <p:cNvPr id="10" name="Rectangle 9">
            <a:extLst>
              <a:ext uri="{FF2B5EF4-FFF2-40B4-BE49-F238E27FC236}">
                <a16:creationId xmlns:a16="http://schemas.microsoft.com/office/drawing/2014/main" id="{60ABE8B4-D9C6-B479-8218-578A85205A04}"/>
              </a:ext>
            </a:extLst>
          </p:cNvPr>
          <p:cNvSpPr/>
          <p:nvPr/>
        </p:nvSpPr>
        <p:spPr>
          <a:xfrm>
            <a:off x="8189149" y="4375355"/>
            <a:ext cx="4247909" cy="197914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1"/>
                </a:solidFill>
              </a:rPr>
              <a:t>Presented by</a:t>
            </a:r>
          </a:p>
          <a:p>
            <a:pPr algn="ctr"/>
            <a:r>
              <a:rPr lang="en-IN" sz="2400" dirty="0">
                <a:solidFill>
                  <a:schemeClr val="tx1"/>
                </a:solidFill>
              </a:rPr>
              <a:t>P.Divakaran(192424260)</a:t>
            </a:r>
          </a:p>
          <a:p>
            <a:pPr algn="ctr"/>
            <a:endParaRPr lang="en-IN" dirty="0"/>
          </a:p>
        </p:txBody>
      </p:sp>
      <p:sp>
        <p:nvSpPr>
          <p:cNvPr id="11" name="Rectangle: Rounded Corners 10">
            <a:extLst>
              <a:ext uri="{FF2B5EF4-FFF2-40B4-BE49-F238E27FC236}">
                <a16:creationId xmlns:a16="http://schemas.microsoft.com/office/drawing/2014/main" id="{AB7FD6E2-6300-2150-132A-688645C4916C}"/>
              </a:ext>
            </a:extLst>
          </p:cNvPr>
          <p:cNvSpPr/>
          <p:nvPr/>
        </p:nvSpPr>
        <p:spPr>
          <a:xfrm>
            <a:off x="864243" y="4375355"/>
            <a:ext cx="1563329" cy="1592825"/>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1"/>
                </a:solidFill>
              </a:rPr>
              <a:t>Guided By</a:t>
            </a:r>
          </a:p>
          <a:p>
            <a:pPr algn="ctr"/>
            <a:r>
              <a:rPr lang="en-IN" sz="2400" dirty="0">
                <a:solidFill>
                  <a:schemeClr val="tx1"/>
                </a:solidFill>
              </a:rPr>
              <a:t>Dr.T.Devi</a:t>
            </a:r>
          </a:p>
        </p:txBody>
      </p:sp>
      <p:sp>
        <p:nvSpPr>
          <p:cNvPr id="12" name="Rectangle 11">
            <a:extLst>
              <a:ext uri="{FF2B5EF4-FFF2-40B4-BE49-F238E27FC236}">
                <a16:creationId xmlns:a16="http://schemas.microsoft.com/office/drawing/2014/main" id="{5368918A-27BF-ADC8-1ADA-E7226CF7C9BD}"/>
              </a:ext>
            </a:extLst>
          </p:cNvPr>
          <p:cNvSpPr/>
          <p:nvPr/>
        </p:nvSpPr>
        <p:spPr>
          <a:xfrm>
            <a:off x="1838633" y="2181020"/>
            <a:ext cx="8111612" cy="17477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rPr>
              <a:t>DSA0304</a:t>
            </a:r>
          </a:p>
          <a:p>
            <a:pPr algn="ctr"/>
            <a:r>
              <a:rPr lang="en-IN" sz="2000" dirty="0">
                <a:solidFill>
                  <a:schemeClr val="tx1"/>
                </a:solidFill>
              </a:rPr>
              <a:t>Natural Language Processing</a:t>
            </a:r>
          </a:p>
        </p:txBody>
      </p:sp>
    </p:spTree>
    <p:extLst>
      <p:ext uri="{BB962C8B-B14F-4D97-AF65-F5344CB8AC3E}">
        <p14:creationId xmlns:p14="http://schemas.microsoft.com/office/powerpoint/2010/main" val="38003533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72D85-AAAB-11D7-260A-2936FCD06E9D}"/>
              </a:ext>
            </a:extLst>
          </p:cNvPr>
          <p:cNvSpPr>
            <a:spLocks noGrp="1"/>
          </p:cNvSpPr>
          <p:nvPr>
            <p:ph type="title"/>
          </p:nvPr>
        </p:nvSpPr>
        <p:spPr/>
        <p:txBody>
          <a:bodyPr/>
          <a:lstStyle/>
          <a:p>
            <a:r>
              <a:rPr lang="en-IN" b="1" dirty="0"/>
              <a:t>Introduction</a:t>
            </a:r>
          </a:p>
        </p:txBody>
      </p:sp>
      <p:sp>
        <p:nvSpPr>
          <p:cNvPr id="3" name="Content Placeholder 2">
            <a:extLst>
              <a:ext uri="{FF2B5EF4-FFF2-40B4-BE49-F238E27FC236}">
                <a16:creationId xmlns:a16="http://schemas.microsoft.com/office/drawing/2014/main" id="{479D60A6-6734-CA55-AFC2-0C20DBB88090}"/>
              </a:ext>
            </a:extLst>
          </p:cNvPr>
          <p:cNvSpPr>
            <a:spLocks noGrp="1"/>
          </p:cNvSpPr>
          <p:nvPr>
            <p:ph idx="1"/>
          </p:nvPr>
        </p:nvSpPr>
        <p:spPr/>
        <p:txBody>
          <a:bodyPr/>
          <a:lstStyle/>
          <a:p>
            <a:pPr algn="just"/>
            <a:r>
              <a:rPr lang="en-US" dirty="0"/>
              <a:t>In today's digital world, a huge amount of text is created every day through emails, websites, social media, documents, and online forms. Finding useful information from this large amount of text manually is difficult and time-consuming. This is where </a:t>
            </a:r>
            <a:r>
              <a:rPr lang="en-US" b="1" dirty="0"/>
              <a:t>Regular Expressions (Regex)</a:t>
            </a:r>
            <a:r>
              <a:rPr lang="en-US" dirty="0"/>
              <a:t> help us.</a:t>
            </a:r>
          </a:p>
          <a:p>
            <a:pPr algn="just"/>
            <a:r>
              <a:rPr lang="en-US" dirty="0"/>
              <a:t>A </a:t>
            </a:r>
            <a:r>
              <a:rPr lang="en-US" b="1" dirty="0"/>
              <a:t>Regular Expression</a:t>
            </a:r>
            <a:r>
              <a:rPr lang="en-US" dirty="0"/>
              <a:t> is a special pattern used to search, match, extract, and validate text. It helps computers quickly find specific information such as email addresses, phone numbers, dates, websites, passwords, and many other types of data.</a:t>
            </a:r>
          </a:p>
          <a:p>
            <a:pPr algn="just"/>
            <a:endParaRPr lang="en-IN" dirty="0"/>
          </a:p>
        </p:txBody>
      </p:sp>
    </p:spTree>
    <p:extLst>
      <p:ext uri="{BB962C8B-B14F-4D97-AF65-F5344CB8AC3E}">
        <p14:creationId xmlns:p14="http://schemas.microsoft.com/office/powerpoint/2010/main" val="17376798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0C8E9-CB5D-733C-1795-1F02EBB23BAC}"/>
              </a:ext>
            </a:extLst>
          </p:cNvPr>
          <p:cNvSpPr>
            <a:spLocks noGrp="1"/>
          </p:cNvSpPr>
          <p:nvPr>
            <p:ph type="title"/>
          </p:nvPr>
        </p:nvSpPr>
        <p:spPr/>
        <p:txBody>
          <a:bodyPr/>
          <a:lstStyle/>
          <a:p>
            <a:r>
              <a:rPr lang="en-US" b="1" dirty="0"/>
              <a:t>What is a Regular Expression?</a:t>
            </a:r>
            <a:endParaRPr lang="en-IN" b="1" dirty="0"/>
          </a:p>
        </p:txBody>
      </p:sp>
      <p:sp>
        <p:nvSpPr>
          <p:cNvPr id="3" name="Content Placeholder 2">
            <a:extLst>
              <a:ext uri="{FF2B5EF4-FFF2-40B4-BE49-F238E27FC236}">
                <a16:creationId xmlns:a16="http://schemas.microsoft.com/office/drawing/2014/main" id="{5BC49454-14AF-E9B3-862C-AFCCECA80206}"/>
              </a:ext>
            </a:extLst>
          </p:cNvPr>
          <p:cNvSpPr>
            <a:spLocks noGrp="1"/>
          </p:cNvSpPr>
          <p:nvPr>
            <p:ph idx="1"/>
          </p:nvPr>
        </p:nvSpPr>
        <p:spPr/>
        <p:txBody>
          <a:bodyPr/>
          <a:lstStyle/>
          <a:p>
            <a:pPr algn="just"/>
            <a:r>
              <a:rPr lang="en-US" dirty="0"/>
              <a:t>A </a:t>
            </a:r>
            <a:r>
              <a:rPr lang="en-US" b="1" dirty="0"/>
              <a:t>Regular Expression (Regex)</a:t>
            </a:r>
            <a:r>
              <a:rPr lang="en-US" dirty="0"/>
              <a:t> is a sequence of characters that forms a search pattern. It is used to check whether a piece of text follows a particular format.</a:t>
            </a:r>
          </a:p>
          <a:p>
            <a:pPr algn="just"/>
            <a:r>
              <a:rPr lang="en-US" dirty="0"/>
              <a:t>For example, if we want to find all email addresses in a document, instead of checking every word manually, we can write one regex pattern. The computer will automatically find every email address that matches the pattern.</a:t>
            </a:r>
          </a:p>
          <a:p>
            <a:pPr algn="just"/>
            <a:r>
              <a:rPr lang="en-US" dirty="0"/>
              <a:t>Regex is supported by many programming languages such as Python, Java, C#, JavaScript, and PHP.</a:t>
            </a:r>
          </a:p>
          <a:p>
            <a:pPr algn="just"/>
            <a:endParaRPr lang="en-IN" dirty="0"/>
          </a:p>
        </p:txBody>
      </p:sp>
    </p:spTree>
    <p:extLst>
      <p:ext uri="{BB962C8B-B14F-4D97-AF65-F5344CB8AC3E}">
        <p14:creationId xmlns:p14="http://schemas.microsoft.com/office/powerpoint/2010/main" val="3728153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4BE6EB3-9AE2-0102-6621-3ED24156F72E}"/>
              </a:ext>
            </a:extLst>
          </p:cNvPr>
          <p:cNvPicPr>
            <a:picLocks noChangeAspect="1"/>
          </p:cNvPicPr>
          <p:nvPr/>
        </p:nvPicPr>
        <p:blipFill>
          <a:blip r:embed="rId2"/>
          <a:stretch>
            <a:fillRect/>
          </a:stretch>
        </p:blipFill>
        <p:spPr>
          <a:xfrm>
            <a:off x="0" y="1059222"/>
            <a:ext cx="12192000" cy="5204445"/>
          </a:xfrm>
          <a:prstGeom prst="rect">
            <a:avLst/>
          </a:prstGeom>
        </p:spPr>
      </p:pic>
      <p:pic>
        <p:nvPicPr>
          <p:cNvPr id="9" name="Picture 8">
            <a:extLst>
              <a:ext uri="{FF2B5EF4-FFF2-40B4-BE49-F238E27FC236}">
                <a16:creationId xmlns:a16="http://schemas.microsoft.com/office/drawing/2014/main" id="{F8F5EA3F-5194-7500-640A-41B984AFB4F4}"/>
              </a:ext>
            </a:extLst>
          </p:cNvPr>
          <p:cNvPicPr>
            <a:picLocks noChangeAspect="1"/>
          </p:cNvPicPr>
          <p:nvPr/>
        </p:nvPicPr>
        <p:blipFill>
          <a:blip r:embed="rId3"/>
          <a:stretch>
            <a:fillRect/>
          </a:stretch>
        </p:blipFill>
        <p:spPr>
          <a:xfrm>
            <a:off x="3444009" y="419086"/>
            <a:ext cx="5303980" cy="320068"/>
          </a:xfrm>
          <a:prstGeom prst="rect">
            <a:avLst/>
          </a:prstGeom>
        </p:spPr>
      </p:pic>
    </p:spTree>
    <p:extLst>
      <p:ext uri="{BB962C8B-B14F-4D97-AF65-F5344CB8AC3E}">
        <p14:creationId xmlns:p14="http://schemas.microsoft.com/office/powerpoint/2010/main" val="2208672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32371-7FE7-E147-C691-3317889DBB21}"/>
              </a:ext>
            </a:extLst>
          </p:cNvPr>
          <p:cNvSpPr>
            <a:spLocks noGrp="1"/>
          </p:cNvSpPr>
          <p:nvPr>
            <p:ph type="title"/>
          </p:nvPr>
        </p:nvSpPr>
        <p:spPr/>
        <p:txBody>
          <a:bodyPr/>
          <a:lstStyle/>
          <a:p>
            <a:r>
              <a:rPr lang="en-IN" b="1" dirty="0"/>
              <a:t>What is Information Extraction?</a:t>
            </a:r>
            <a:br>
              <a:rPr lang="en-IN" b="1" dirty="0"/>
            </a:br>
            <a:endParaRPr lang="en-IN" dirty="0"/>
          </a:p>
        </p:txBody>
      </p:sp>
      <p:sp>
        <p:nvSpPr>
          <p:cNvPr id="3" name="Content Placeholder 2">
            <a:extLst>
              <a:ext uri="{FF2B5EF4-FFF2-40B4-BE49-F238E27FC236}">
                <a16:creationId xmlns:a16="http://schemas.microsoft.com/office/drawing/2014/main" id="{2EA52332-ECDD-BFEC-1936-CE41D4110716}"/>
              </a:ext>
            </a:extLst>
          </p:cNvPr>
          <p:cNvSpPr>
            <a:spLocks noGrp="1"/>
          </p:cNvSpPr>
          <p:nvPr>
            <p:ph idx="1"/>
          </p:nvPr>
        </p:nvSpPr>
        <p:spPr/>
        <p:txBody>
          <a:bodyPr/>
          <a:lstStyle/>
          <a:p>
            <a:pPr algn="just"/>
            <a:r>
              <a:rPr lang="en-US" b="1" dirty="0"/>
              <a:t>Information Extraction</a:t>
            </a:r>
            <a:r>
              <a:rPr lang="en-US" dirty="0"/>
              <a:t> is the process of identifying and collecting useful information from unstructured or semi-structured text.</a:t>
            </a:r>
          </a:p>
          <a:p>
            <a:pPr algn="just"/>
            <a:r>
              <a:rPr lang="en-US" dirty="0"/>
              <a:t>People write information in different ways. For example, a document may contain names, addresses, mobile numbers, dates, and email addresses mixed together. Information extraction helps separate these useful details automatically.</a:t>
            </a:r>
          </a:p>
          <a:p>
            <a:pPr algn="just"/>
            <a:r>
              <a:rPr lang="en-US" dirty="0"/>
              <a:t>For example, consider the following text:</a:t>
            </a:r>
          </a:p>
          <a:p>
            <a:pPr algn="just"/>
            <a:r>
              <a:rPr lang="en-US" dirty="0"/>
              <a:t>"My name is Ravi. My email is </a:t>
            </a:r>
            <a:r>
              <a:rPr lang="en-US" dirty="0">
                <a:hlinkClick r:id="rId2"/>
              </a:rPr>
              <a:t>ravi@gmail.com</a:t>
            </a:r>
            <a:r>
              <a:rPr lang="en-US" dirty="0"/>
              <a:t> and my phone number is 9876543210."</a:t>
            </a:r>
          </a:p>
          <a:p>
            <a:pPr algn="just"/>
            <a:endParaRPr lang="en-IN" dirty="0"/>
          </a:p>
        </p:txBody>
      </p:sp>
    </p:spTree>
    <p:extLst>
      <p:ext uri="{BB962C8B-B14F-4D97-AF65-F5344CB8AC3E}">
        <p14:creationId xmlns:p14="http://schemas.microsoft.com/office/powerpoint/2010/main" val="962364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4800C-0498-4403-8388-C5A4217F2FDD}"/>
              </a:ext>
            </a:extLst>
          </p:cNvPr>
          <p:cNvSpPr>
            <a:spLocks noGrp="1"/>
          </p:cNvSpPr>
          <p:nvPr>
            <p:ph type="title"/>
          </p:nvPr>
        </p:nvSpPr>
        <p:spPr/>
        <p:txBody>
          <a:bodyPr>
            <a:normAutofit fontScale="90000"/>
          </a:bodyPr>
          <a:lstStyle/>
          <a:p>
            <a:r>
              <a:rPr lang="en-US" b="1" dirty="0"/>
              <a:t>Why Do We Need Efficient Regular Expressions?</a:t>
            </a:r>
            <a:br>
              <a:rPr lang="en-US" b="1" dirty="0"/>
            </a:br>
            <a:endParaRPr lang="en-IN" dirty="0"/>
          </a:p>
        </p:txBody>
      </p:sp>
      <p:sp>
        <p:nvSpPr>
          <p:cNvPr id="3" name="Content Placeholder 2">
            <a:extLst>
              <a:ext uri="{FF2B5EF4-FFF2-40B4-BE49-F238E27FC236}">
                <a16:creationId xmlns:a16="http://schemas.microsoft.com/office/drawing/2014/main" id="{03D5BE89-C98B-6894-9E11-0A12918E1369}"/>
              </a:ext>
            </a:extLst>
          </p:cNvPr>
          <p:cNvSpPr>
            <a:spLocks noGrp="1"/>
          </p:cNvSpPr>
          <p:nvPr>
            <p:ph idx="1"/>
          </p:nvPr>
        </p:nvSpPr>
        <p:spPr/>
        <p:txBody>
          <a:bodyPr>
            <a:normAutofit fontScale="92500" lnSpcReduction="10000"/>
          </a:bodyPr>
          <a:lstStyle/>
          <a:p>
            <a:pPr marL="0" indent="0" algn="just">
              <a:buNone/>
            </a:pPr>
            <a:r>
              <a:rPr lang="en-US" dirty="0"/>
              <a:t>A simple regular expression may work for small data, but when working with thousands of documents, the pattern should be efficient.</a:t>
            </a:r>
          </a:p>
          <a:p>
            <a:pPr algn="just"/>
            <a:r>
              <a:rPr lang="en-US" dirty="0"/>
              <a:t>An efficient regular expression:</a:t>
            </a:r>
          </a:p>
          <a:p>
            <a:pPr algn="just"/>
            <a:r>
              <a:rPr lang="en-US" dirty="0"/>
              <a:t>Finds the correct information.</a:t>
            </a:r>
          </a:p>
          <a:p>
            <a:pPr algn="just"/>
            <a:r>
              <a:rPr lang="en-US" dirty="0"/>
              <a:t>Avoids incorrect matches.</a:t>
            </a:r>
          </a:p>
          <a:p>
            <a:pPr algn="just"/>
            <a:r>
              <a:rPr lang="en-US" dirty="0"/>
              <a:t>Works faster.</a:t>
            </a:r>
          </a:p>
          <a:p>
            <a:pPr algn="just"/>
            <a:r>
              <a:rPr lang="en-US" dirty="0"/>
              <a:t>Uses less computer memory.</a:t>
            </a:r>
          </a:p>
          <a:p>
            <a:pPr algn="just"/>
            <a:r>
              <a:rPr lang="en-US" dirty="0"/>
              <a:t>Is easy to understand and modify.</a:t>
            </a:r>
          </a:p>
          <a:p>
            <a:pPr marL="0" indent="0" algn="just">
              <a:buNone/>
            </a:pPr>
            <a:r>
              <a:rPr lang="en-US" dirty="0"/>
              <a:t>If the pattern is poorly designed, it may produce wrong results or take more time to execute.</a:t>
            </a:r>
          </a:p>
          <a:p>
            <a:pPr algn="just"/>
            <a:endParaRPr lang="en-IN" dirty="0"/>
          </a:p>
        </p:txBody>
      </p:sp>
    </p:spTree>
    <p:extLst>
      <p:ext uri="{BB962C8B-B14F-4D97-AF65-F5344CB8AC3E}">
        <p14:creationId xmlns:p14="http://schemas.microsoft.com/office/powerpoint/2010/main" val="972370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4D421F-BD80-83AD-9D60-512A6A666642}"/>
              </a:ext>
            </a:extLst>
          </p:cNvPr>
          <p:cNvSpPr>
            <a:spLocks noGrp="1"/>
          </p:cNvSpPr>
          <p:nvPr>
            <p:ph idx="1"/>
          </p:nvPr>
        </p:nvSpPr>
        <p:spPr>
          <a:xfrm>
            <a:off x="838200" y="655320"/>
            <a:ext cx="10515600" cy="5521643"/>
          </a:xfrm>
        </p:spPr>
        <p:txBody>
          <a:bodyPr>
            <a:normAutofit fontScale="92500" lnSpcReduction="20000"/>
          </a:bodyPr>
          <a:lstStyle/>
          <a:p>
            <a:pPr marL="0" indent="0" algn="just">
              <a:buNone/>
            </a:pPr>
            <a:r>
              <a:rPr lang="en-US" b="1" dirty="0"/>
              <a:t>Designing Efficient Regex Patterns</a:t>
            </a:r>
          </a:p>
          <a:p>
            <a:pPr marL="0" indent="0" algn="just">
              <a:buNone/>
            </a:pPr>
            <a:r>
              <a:rPr lang="en-US" dirty="0"/>
              <a:t>Designing a regex means writing a pattern that finds only the required information.</a:t>
            </a:r>
          </a:p>
          <a:p>
            <a:pPr marL="0" indent="0" algn="just">
              <a:buNone/>
            </a:pPr>
            <a:endParaRPr lang="en-US" dirty="0"/>
          </a:p>
          <a:p>
            <a:pPr marL="0" indent="0" algn="just">
              <a:buNone/>
            </a:pPr>
            <a:r>
              <a:rPr lang="en-US" b="1" dirty="0"/>
              <a:t>1. Keep the Pattern Simple</a:t>
            </a:r>
          </a:p>
          <a:p>
            <a:pPr algn="just"/>
            <a:r>
              <a:rPr lang="en-US" dirty="0"/>
              <a:t>Simple patterns are easier to understand and execute.</a:t>
            </a:r>
          </a:p>
          <a:p>
            <a:pPr marL="0" indent="0" algn="just">
              <a:buNone/>
            </a:pPr>
            <a:r>
              <a:rPr lang="en-US" b="1" dirty="0"/>
              <a:t>2. Avoid Unnecessary Symbols</a:t>
            </a:r>
          </a:p>
          <a:p>
            <a:pPr algn="just"/>
            <a:r>
              <a:rPr lang="en-US" dirty="0"/>
              <a:t>Using too many special characters makes the regex slow.</a:t>
            </a:r>
          </a:p>
          <a:p>
            <a:pPr marL="0" indent="0" algn="just">
              <a:buNone/>
            </a:pPr>
            <a:r>
              <a:rPr lang="en-US" b="1" dirty="0"/>
              <a:t>3. Match Only Required Data</a:t>
            </a:r>
          </a:p>
          <a:p>
            <a:pPr algn="just"/>
            <a:r>
              <a:rPr lang="en-US" dirty="0"/>
              <a:t>The pattern should not select unwanted text.</a:t>
            </a:r>
          </a:p>
          <a:p>
            <a:pPr marL="0" indent="0" algn="just">
              <a:buNone/>
            </a:pPr>
            <a:r>
              <a:rPr lang="en-US" b="1" dirty="0"/>
              <a:t>4. Test the Pattern</a:t>
            </a:r>
          </a:p>
          <a:p>
            <a:pPr algn="just"/>
            <a:r>
              <a:rPr lang="en-US" dirty="0"/>
              <a:t>Always test the regex with different examples before using it.</a:t>
            </a:r>
          </a:p>
          <a:p>
            <a:pPr marL="0" indent="0" algn="just">
              <a:buNone/>
            </a:pPr>
            <a:r>
              <a:rPr lang="en-US" b="1" dirty="0"/>
              <a:t>5. Improve Readability</a:t>
            </a:r>
          </a:p>
          <a:p>
            <a:pPr algn="just"/>
            <a:r>
              <a:rPr lang="en-US" dirty="0"/>
              <a:t>Well-designed regex patterns are easier to maintain.</a:t>
            </a:r>
          </a:p>
          <a:p>
            <a:pPr algn="just"/>
            <a:endParaRPr lang="en-IN" dirty="0"/>
          </a:p>
        </p:txBody>
      </p:sp>
    </p:spTree>
    <p:extLst>
      <p:ext uri="{BB962C8B-B14F-4D97-AF65-F5344CB8AC3E}">
        <p14:creationId xmlns:p14="http://schemas.microsoft.com/office/powerpoint/2010/main" val="514525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7D063-CFF8-E19A-C9DD-8E4A359BCF8B}"/>
              </a:ext>
            </a:extLst>
          </p:cNvPr>
          <p:cNvSpPr>
            <a:spLocks noGrp="1"/>
          </p:cNvSpPr>
          <p:nvPr>
            <p:ph type="title"/>
          </p:nvPr>
        </p:nvSpPr>
        <p:spPr/>
        <p:txBody>
          <a:bodyPr/>
          <a:lstStyle/>
          <a:p>
            <a:r>
              <a:rPr lang="en-US" b="1" dirty="0"/>
              <a:t>Advantages of Efficient Regular Expressions</a:t>
            </a:r>
            <a:endParaRPr lang="en-IN" b="1" dirty="0"/>
          </a:p>
        </p:txBody>
      </p:sp>
      <p:sp>
        <p:nvSpPr>
          <p:cNvPr id="3" name="Content Placeholder 2">
            <a:extLst>
              <a:ext uri="{FF2B5EF4-FFF2-40B4-BE49-F238E27FC236}">
                <a16:creationId xmlns:a16="http://schemas.microsoft.com/office/drawing/2014/main" id="{29B878F1-787C-9C90-3B66-69CC2AD1E92E}"/>
              </a:ext>
            </a:extLst>
          </p:cNvPr>
          <p:cNvSpPr>
            <a:spLocks noGrp="1"/>
          </p:cNvSpPr>
          <p:nvPr>
            <p:ph idx="1"/>
          </p:nvPr>
        </p:nvSpPr>
        <p:spPr/>
        <p:txBody>
          <a:bodyPr/>
          <a:lstStyle/>
          <a:p>
            <a:pPr algn="just"/>
            <a:r>
              <a:rPr lang="en-US" dirty="0"/>
              <a:t>Fast searching.</a:t>
            </a:r>
          </a:p>
          <a:p>
            <a:pPr algn="just"/>
            <a:r>
              <a:rPr lang="en-US" dirty="0"/>
              <a:t>Saves time.</a:t>
            </a:r>
          </a:p>
          <a:p>
            <a:pPr algn="just"/>
            <a:r>
              <a:rPr lang="en-US" dirty="0"/>
              <a:t>Reduces manual work.</a:t>
            </a:r>
          </a:p>
          <a:p>
            <a:pPr algn="just"/>
            <a:r>
              <a:rPr lang="en-US" dirty="0"/>
              <a:t>Improves accuracy.</a:t>
            </a:r>
          </a:p>
          <a:p>
            <a:pPr algn="just"/>
            <a:r>
              <a:rPr lang="en-US" dirty="0"/>
              <a:t>Easy to automate.</a:t>
            </a:r>
          </a:p>
          <a:p>
            <a:pPr algn="just"/>
            <a:r>
              <a:rPr lang="en-US" dirty="0"/>
              <a:t>Works with large datasets.</a:t>
            </a:r>
          </a:p>
          <a:p>
            <a:pPr algn="just"/>
            <a:r>
              <a:rPr lang="en-US" dirty="0"/>
              <a:t>Supported by almost all programming languages</a:t>
            </a:r>
            <a:endParaRPr lang="en-IN" dirty="0"/>
          </a:p>
        </p:txBody>
      </p:sp>
    </p:spTree>
    <p:extLst>
      <p:ext uri="{BB962C8B-B14F-4D97-AF65-F5344CB8AC3E}">
        <p14:creationId xmlns:p14="http://schemas.microsoft.com/office/powerpoint/2010/main" val="2339197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76A12-1AC3-185B-F415-9E4047BCF505}"/>
              </a:ext>
            </a:extLst>
          </p:cNvPr>
          <p:cNvSpPr>
            <a:spLocks noGrp="1"/>
          </p:cNvSpPr>
          <p:nvPr>
            <p:ph type="title"/>
          </p:nvPr>
        </p:nvSpPr>
        <p:spPr/>
        <p:txBody>
          <a:bodyPr/>
          <a:lstStyle/>
          <a:p>
            <a:r>
              <a:rPr lang="en-IN" b="1" dirty="0"/>
              <a:t>Conclusion</a:t>
            </a:r>
          </a:p>
        </p:txBody>
      </p:sp>
      <p:sp>
        <p:nvSpPr>
          <p:cNvPr id="3" name="Content Placeholder 2">
            <a:extLst>
              <a:ext uri="{FF2B5EF4-FFF2-40B4-BE49-F238E27FC236}">
                <a16:creationId xmlns:a16="http://schemas.microsoft.com/office/drawing/2014/main" id="{FCE222FF-B814-6059-950C-DF192293723A}"/>
              </a:ext>
            </a:extLst>
          </p:cNvPr>
          <p:cNvSpPr>
            <a:spLocks noGrp="1"/>
          </p:cNvSpPr>
          <p:nvPr>
            <p:ph idx="1"/>
          </p:nvPr>
        </p:nvSpPr>
        <p:spPr/>
        <p:txBody>
          <a:bodyPr/>
          <a:lstStyle/>
          <a:p>
            <a:pPr algn="just"/>
            <a:r>
              <a:rPr lang="en-US" b="1" dirty="0"/>
              <a:t>Designing Efficient Regular Expression Patterns for Information </a:t>
            </a:r>
          </a:p>
          <a:p>
            <a:pPr marL="0" indent="0" algn="just">
              <a:buNone/>
            </a:pPr>
            <a:r>
              <a:rPr lang="en-US" b="1" dirty="0"/>
              <a:t>Extraction</a:t>
            </a:r>
            <a:r>
              <a:rPr lang="en-US" dirty="0"/>
              <a:t> is an important concept in Natural Language Processing and text processing. Regular expressions help computers search, match, extract, and validate useful information from large amounts of text quickly and accurately.</a:t>
            </a:r>
          </a:p>
          <a:p>
            <a:pPr algn="just"/>
            <a:endParaRPr lang="en-US" dirty="0"/>
          </a:p>
          <a:p>
            <a:pPr marL="0" indent="0" algn="just">
              <a:buNone/>
            </a:pPr>
            <a:r>
              <a:rPr lang="en-US" dirty="0"/>
              <a:t>Efficient regex patterns improve performance, reduce errors, and simplify text processing tasks. They are widely used in search engines, web applications, data mining, chatbots, banking systems, healthcare, and many other real-world applications.</a:t>
            </a:r>
          </a:p>
          <a:p>
            <a:pPr algn="just"/>
            <a:endParaRPr lang="en-IN" dirty="0"/>
          </a:p>
        </p:txBody>
      </p:sp>
    </p:spTree>
    <p:extLst>
      <p:ext uri="{BB962C8B-B14F-4D97-AF65-F5344CB8AC3E}">
        <p14:creationId xmlns:p14="http://schemas.microsoft.com/office/powerpoint/2010/main" val="41732356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609</Words>
  <Application>Microsoft Office PowerPoint</Application>
  <PresentationFormat>Widescreen</PresentationFormat>
  <Paragraphs>54</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PowerPoint Presentation</vt:lpstr>
      <vt:lpstr>PowerPoint Presentation</vt:lpstr>
      <vt:lpstr>PowerPoint Presentation</vt:lpstr>
      <vt:lpstr>Introduction</vt:lpstr>
      <vt:lpstr>What is a Regular Expression?</vt:lpstr>
      <vt:lpstr>PowerPoint Presentation</vt:lpstr>
      <vt:lpstr>What is Information Extraction? </vt:lpstr>
      <vt:lpstr>Why Do We Need Efficient Regular Expressions? </vt:lpstr>
      <vt:lpstr>PowerPoint Presentation</vt:lpstr>
      <vt:lpstr>Advantages of Efficient Regular Expressions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DIVA KARAN P</dc:creator>
  <cp:lastModifiedBy>DIVA KARAN P</cp:lastModifiedBy>
  <cp:revision>2</cp:revision>
  <dcterms:created xsi:type="dcterms:W3CDTF">2026-07-15T09:24:14Z</dcterms:created>
  <dcterms:modified xsi:type="dcterms:W3CDTF">2026-07-16T08:39:10Z</dcterms:modified>
</cp:coreProperties>
</file>